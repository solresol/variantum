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442a4dcd064c78" /><Relationship Type="http://schemas.openxmlformats.org/officeDocument/2006/relationships/extended-properties" Target="/docProps/app.xml" Id="R52cf6cfc5c9d41a3" /><Relationship Type="http://schemas.openxmlformats.org/officeDocument/2006/relationships/officeDocument" Target="/ppt/presentation.xml" Id="R2eaf7d9247e945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82e7424cab4875"/>
  </p:sldMasterIdLst>
  <p:notesMasterIdLst>
    <p:notesMasterId xmlns:r="http://schemas.openxmlformats.org/officeDocument/2006/relationships" r:id="R8d4d2941ecc24a5b"/>
  </p:notesMasterIdLst>
  <p:sldIdLst>
    <p:sldId xmlns:r="http://schemas.openxmlformats.org/officeDocument/2006/relationships" id="256" r:id="R83c4e5aff9784fcb"/>
    <p:sldId xmlns:r="http://schemas.openxmlformats.org/officeDocument/2006/relationships" id="257" r:id="R0f9e5fc6250b49d0"/>
    <p:sldId xmlns:r="http://schemas.openxmlformats.org/officeDocument/2006/relationships" id="258" r:id="R1f4b02a5f5da4c61"/>
    <p:sldId xmlns:r="http://schemas.openxmlformats.org/officeDocument/2006/relationships" id="259" r:id="R69bd0c06188a4d7a"/>
    <p:sldId xmlns:r="http://schemas.openxmlformats.org/officeDocument/2006/relationships" id="260" r:id="R0bb21358506d4b13"/>
    <p:sldId xmlns:r="http://schemas.openxmlformats.org/officeDocument/2006/relationships" id="261" r:id="R8d6fd774c2cb4863"/>
    <p:sldId xmlns:r="http://schemas.openxmlformats.org/officeDocument/2006/relationships" id="262" r:id="R3f3a3e3077854435"/>
    <p:sldId xmlns:r="http://schemas.openxmlformats.org/officeDocument/2006/relationships" id="263" r:id="R2f122ff6a0d3446f"/>
    <p:sldId xmlns:r="http://schemas.openxmlformats.org/officeDocument/2006/relationships" id="264" r:id="Re82a3c18e9f04585"/>
    <p:sldId xmlns:r="http://schemas.openxmlformats.org/officeDocument/2006/relationships" id="265" r:id="R47b7ab1910ea4b5b"/>
    <p:sldId xmlns:r="http://schemas.openxmlformats.org/officeDocument/2006/relationships" id="266" r:id="R42b3adcba9ff45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474d180d3a46ec" /><Relationship Type="http://schemas.openxmlformats.org/officeDocument/2006/relationships/slideMaster" Target="/ppt/slideMasters/slideMaster1.xml" Id="R1082e7424cab4875" /><Relationship Type="http://schemas.openxmlformats.org/officeDocument/2006/relationships/notesMaster" Target="/ppt/notesMasters/notesMaster1.xml" Id="R8d4d2941ecc24a5b" /><Relationship Type="http://schemas.openxmlformats.org/officeDocument/2006/relationships/presProps" Target="/ppt/presProps.xml" Id="R3cc7f8c6016743cd" /><Relationship Type="http://schemas.openxmlformats.org/officeDocument/2006/relationships/tableStyles" Target="/ppt/tableStyles.xml" Id="R294c3fba135341b0" /><Relationship Type="http://schemas.openxmlformats.org/officeDocument/2006/relationships/slide" Target="/ppt/slides/slide1.xml" Id="R83c4e5aff9784fcb" /><Relationship Type="http://schemas.openxmlformats.org/officeDocument/2006/relationships/slide" Target="/ppt/slides/slide2.xml" Id="R0f9e5fc6250b49d0" /><Relationship Type="http://schemas.openxmlformats.org/officeDocument/2006/relationships/slide" Target="/ppt/slides/slide3.xml" Id="R1f4b02a5f5da4c61" /><Relationship Type="http://schemas.openxmlformats.org/officeDocument/2006/relationships/slide" Target="/ppt/slides/slide4.xml" Id="R69bd0c06188a4d7a" /><Relationship Type="http://schemas.openxmlformats.org/officeDocument/2006/relationships/slide" Target="/ppt/slides/slide5.xml" Id="R0bb21358506d4b13" /><Relationship Type="http://schemas.openxmlformats.org/officeDocument/2006/relationships/slide" Target="/ppt/slides/slide6.xml" Id="R8d6fd774c2cb4863" /><Relationship Type="http://schemas.openxmlformats.org/officeDocument/2006/relationships/slide" Target="/ppt/slides/slide7.xml" Id="R3f3a3e3077854435" /><Relationship Type="http://schemas.openxmlformats.org/officeDocument/2006/relationships/slide" Target="/ppt/slides/slide8.xml" Id="R2f122ff6a0d3446f" /><Relationship Type="http://schemas.openxmlformats.org/officeDocument/2006/relationships/slide" Target="/ppt/slides/slide9.xml" Id="Re82a3c18e9f04585" /><Relationship Type="http://schemas.openxmlformats.org/officeDocument/2006/relationships/slide" Target="/ppt/slides/slide10.xml" Id="R47b7ab1910ea4b5b" /><Relationship Type="http://schemas.openxmlformats.org/officeDocument/2006/relationships/slide" Target="/ppt/slides/slide11.xml" Id="R42b3adcba9ff45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45b0f5a4c741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8245ad1aa4b01" /><Relationship Type="http://schemas.openxmlformats.org/officeDocument/2006/relationships/notesMaster" Target="/ppt/notesMasters/notesMaster1.xml" Id="Re6f39bc6f62749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4c3d0c2698429d" /><Relationship Type="http://schemas.openxmlformats.org/officeDocument/2006/relationships/notesMaster" Target="/ppt/notesMasters/notesMaster1.xml" Id="R81068c71684940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648d6490b34c5c" /><Relationship Type="http://schemas.openxmlformats.org/officeDocument/2006/relationships/notesMaster" Target="/ppt/notesMasters/notesMaster1.xml" Id="Rd803c7325e424f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7c07f4e1304551" /><Relationship Type="http://schemas.openxmlformats.org/officeDocument/2006/relationships/notesMaster" Target="/ppt/notesMasters/notesMaster1.xml" Id="Rb82900ff2a97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a13a8b008e4cc6" /><Relationship Type="http://schemas.openxmlformats.org/officeDocument/2006/relationships/notesMaster" Target="/ppt/notesMasters/notesMaster1.xml" Id="Rd89ff7ace51849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4278e2672c44cf" /><Relationship Type="http://schemas.openxmlformats.org/officeDocument/2006/relationships/notesMaster" Target="/ppt/notesMasters/notesMaster1.xml" Id="R9384379cbeea44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848246d5df4329" /><Relationship Type="http://schemas.openxmlformats.org/officeDocument/2006/relationships/notesMaster" Target="/ppt/notesMasters/notesMaster1.xml" Id="Rf75e5cfccabd4d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c98c33910140be" /><Relationship Type="http://schemas.openxmlformats.org/officeDocument/2006/relationships/notesMaster" Target="/ppt/notesMasters/notesMaster1.xml" Id="R7fa4a53a06734c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6a69ad45374aef" /><Relationship Type="http://schemas.openxmlformats.org/officeDocument/2006/relationships/notesMaster" Target="/ppt/notesMasters/notesMaster1.xml" Id="R6f075a50712442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a27ac1614c4ab3" /><Relationship Type="http://schemas.openxmlformats.org/officeDocument/2006/relationships/notesMaster" Target="/ppt/notesMasters/notesMaster1.xml" Id="Re94b8564036c4c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ae1346d5414710" /><Relationship Type="http://schemas.openxmlformats.org/officeDocument/2006/relationships/notesMaster" Target="/ppt/notesMasters/notesMaster1.xml" Id="R5fc4693b613d42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locating the talk: this is the AI4AS 2026 mini-conference on ancient scripts, held online on 27 July 2026.</a:t>
            </a:r>
          </a:p>
          <a:p xmlns:a="http://schemas.openxmlformats.org/drawingml/2006/main">
            <a:r>
              <a:t>The submitted abstract commits us to theory, corpus rationale, and preliminary pilot findings. Vanessa's first-set review gives us the pilot result we can responsibly discuss.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abstract begins from translation as situated and purposive, not a lookup task.</a:t>
            </a:r>
          </a:p>
          <a:p xmlns:a="http://schemas.openxmlformats.org/drawingml/2006/main">
            <a:r>
              <a:t>Use this slide to set up why one fluent model output is risky for ancient-language work: it removes signs of choice just where the reader most needs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methodological claim. Parallage is not an attempt to make one better AI translation.</a:t>
            </a:r>
          </a:p>
          <a:p xmlns:a="http://schemas.openxmlformats.org/drawingml/2006/main">
            <a:r>
              <a:t>It structures model abundance into a pack that makes interpretive choice visible: literal, readable, interpretive, uncertainty-marked, and adversarial renderings with cues for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abstract names two corpora: Stephanos and Hanshu Dilizhi.</a:t>
            </a:r>
          </a:p>
          <a:p xmlns:a="http://schemas.openxmlformats.org/drawingml/2006/main">
            <a:r>
              <a:t>Make the rationale explicit: these are not just examples; they are contexts where trust and agency become visible because the reader cannot rely on a finished English canon.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design carefully. Vanessa's rating is human judgement about expected divergence.</a:t>
            </a:r>
          </a:p>
          <a:p xmlns:a="http://schemas.openxmlformats.org/drawingml/2006/main">
            <a:r>
              <a:t>The automatic scores compare focal machine outputs against approved hidden human translations. They are diagnostic proxies, not ground truth for translation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answer to the first version of the question: yes, weakly and directionally, Vanessa was often pointing toward lower overlap cases.</a:t>
            </a:r>
          </a:p>
          <a:p xmlns:a="http://schemas.openxmlformats.org/drawingml/2006/main">
            <a:r>
              <a:t>But the correlations are modest and the sample is only ten. Treat this as a raw signal, not the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of the overlap metrics do worse on longer documents in the broader population.</a:t>
            </a:r>
          </a:p>
          <a:p xmlns:a="http://schemas.openxmlformats.org/drawingml/2006/main">
            <a:r>
              <a:t>That matters because Set 1 is small and Vanessa's ratings also rise with length. If we do not control for length, we overstate what the raw metrics are telling 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answers Greg's follow-up question. Once we account for length, there is still a hint of signal, especially on 3-gram F1 residual badness, but it is weak and not robust.</a:t>
            </a:r>
          </a:p>
          <a:p xmlns:a="http://schemas.openxmlformats.org/drawingml/2006/main">
            <a:r>
              <a:t>The right claim is that the review task is producing analyzable judgement data and that the disagreements are diagnostically useful.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avoid sounding apologetic about the weak adjusted correlations.</a:t>
            </a:r>
          </a:p>
          <a:p xmlns:a="http://schemas.openxmlformats.org/drawingml/2006/main">
            <a:r>
              <a:t>For Parallage, the mismatch between human judgement, overlap metrics, and document length is itself useful: it identifies where a reader or reviewer needs better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strongest responsible claim.</a:t>
            </a:r>
          </a:p>
          <a:p xmlns:a="http://schemas.openxmlformats.org/drawingml/2006/main">
            <a:r>
              <a:t>Do not claim the pilot proves Parallage improves reliability. Claim that Parallage turns multiplicity into a structured object for judgement, and that the first pilot shows how the judgement data can be analyzed.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as backup rather than presenting it unless questions come up.</a:t>
            </a:r>
          </a:p>
          <a:p xmlns:a="http://schemas.openxmlformats.org/drawingml/2006/main">
            <a:r>
              <a:t>It makes the deck self-contained and records where the abstract and pilot evidence came from.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034c2abb94b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ed56a8c0c4590" /><Relationship Type="http://schemas.openxmlformats.org/officeDocument/2006/relationships/slideLayout" Target="/ppt/slideLayouts/slideLayout1.xml" Id="Rf8c2b1cf921c4e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c2b1cf921c4e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db59fe0124a1a" /><Relationship Type="http://schemas.openxmlformats.org/officeDocument/2006/relationships/notesSlide" Target="/ppt/notesSlides/notesSlide1.xml" Id="R280d5d93a4bc46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b82e9bd814c8c" /><Relationship Type="http://schemas.openxmlformats.org/officeDocument/2006/relationships/notesSlide" Target="/ppt/notesSlides/notesSlide2.xml" Id="R073558a73443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ebc90c65d4d1e" /><Relationship Type="http://schemas.openxmlformats.org/officeDocument/2006/relationships/notesSlide" Target="/ppt/notesSlides/notesSlide3.xml" Id="R78f52045709c43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c1ab056224eba" /><Relationship Type="http://schemas.openxmlformats.org/officeDocument/2006/relationships/notesSlide" Target="/ppt/notesSlides/notesSlide4.xml" Id="R5ead2d2fc9d942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10079f8964ede" /><Relationship Type="http://schemas.openxmlformats.org/officeDocument/2006/relationships/notesSlide" Target="/ppt/notesSlides/notesSlide5.xml" Id="Rcd630d5b2dfb48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8ce3334fa4510" /><Relationship Type="http://schemas.openxmlformats.org/officeDocument/2006/relationships/image" Target="/ppt/media/image.png" Id="R13d5c7bb6e234705" /><Relationship Type="http://schemas.openxmlformats.org/officeDocument/2006/relationships/notesSlide" Target="/ppt/notesSlides/notesSlide6.xml" Id="R49864e8722c349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041b4ae5c4c4e" /><Relationship Type="http://schemas.openxmlformats.org/officeDocument/2006/relationships/image" Target="/ppt/media/image2.png" Id="Rcc9d25462cd94379" /><Relationship Type="http://schemas.openxmlformats.org/officeDocument/2006/relationships/image" Target="/ppt/media/image3.png" Id="R691ddbcdce424595" /><Relationship Type="http://schemas.openxmlformats.org/officeDocument/2006/relationships/notesSlide" Target="/ppt/notesSlides/notesSlide7.xml" Id="Re44256093f7845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ae2e5c3a4ad0" /><Relationship Type="http://schemas.openxmlformats.org/officeDocument/2006/relationships/image" Target="/ppt/media/image4.png" Id="R3ebf9581aa6144f9" /><Relationship Type="http://schemas.openxmlformats.org/officeDocument/2006/relationships/notesSlide" Target="/ppt/notesSlides/notesSlide8.xml" Id="Rda8aab9b573247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0b4e573d04bb3" /><Relationship Type="http://schemas.openxmlformats.org/officeDocument/2006/relationships/notesSlide" Target="/ppt/notesSlides/notesSlide9.xml" Id="Rd5a9bb61ecd54a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11c977b934637" /><Relationship Type="http://schemas.openxmlformats.org/officeDocument/2006/relationships/notesSlide" Target="/ppt/notesSlides/notesSlide10.xml" Id="R8fbee2ad802d48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478a874fc47f1" /><Relationship Type="http://schemas.openxmlformats.org/officeDocument/2006/relationships/notesSlide" Target="/ppt/notesSlides/notesSlide11.xml" Id="R9b3d213ce9194d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main">
            <a:extLst xmlns:a="http://schemas.openxmlformats.org/drawingml/2006/main">
              <a:ext uri="{FF2B5EF4-FFF2-40B4-BE49-F238E27FC236}">
                <a16:creationId xmlns:a16="http://schemas.microsoft.com/office/drawing/2014/main" id="{E1951E25-CDE9-432F-8CC5-3FED5C82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Into the Parallage</a:t>
            </a:r>
          </a:p>
        </p:txBody>
      </p:sp>
      <p:sp>
        <p:nvSpPr>
          <p:cNvPr id="2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557278B7-3786-45CF-B691-166E76E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Harnessing abundance, plurality and divergence in AI translation of ancient texts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F378D0A-1CFB-4F7F-82EA-55C863F0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authors">
            <a:extLst xmlns:a="http://schemas.openxmlformats.org/drawingml/2006/main">
              <a:ext uri="{FF2B5EF4-FFF2-40B4-BE49-F238E27FC236}">
                <a16:creationId xmlns:a16="http://schemas.microsoft.com/office/drawing/2014/main" id="{CDCD7838-B8BB-4C5E-BCF8-512310D2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Greg Baker | Shirley Chan | Vanessa Enriquez Raido | Greta Hawes</a:t>
            </a:r>
          </a:p>
        </p:txBody>
      </p:sp>
      <p:sp>
        <p:nvSpPr>
          <p:cNvPr id="5" name="title-venue">
            <a:extLst xmlns:a="http://schemas.openxmlformats.org/drawingml/2006/main">
              <a:ext uri="{FF2B5EF4-FFF2-40B4-BE49-F238E27FC236}">
                <a16:creationId xmlns:a16="http://schemas.microsoft.com/office/drawing/2014/main" id="{E356F8F7-93AC-4F51-A29C-267F4DC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AI4AS 2026, online mini-conference within DH2026</a:t>
            </a:r>
          </a:p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27 July 2026 | Daejeon, South Korea / remote</a:t>
            </a:r>
          </a:p>
        </p:txBody>
      </p:sp>
      <p:sp>
        <p:nvSpPr>
          <p:cNvPr id="6" name="title-panel">
            <a:extLst xmlns:a="http://schemas.openxmlformats.org/drawingml/2006/main">
              <a:ext uri="{FF2B5EF4-FFF2-40B4-BE49-F238E27FC236}">
                <a16:creationId xmlns:a16="http://schemas.microsoft.com/office/drawing/2014/main" id="{7E89AD5C-4AED-4B00-83C5-1F2CB0F8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4552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tle-claim">
            <a:extLst xmlns:a="http://schemas.openxmlformats.org/drawingml/2006/main">
              <a:ext uri="{FF2B5EF4-FFF2-40B4-BE49-F238E27FC236}">
                <a16:creationId xmlns:a16="http://schemas.microsoft.com/office/drawing/2014/main" id="{1B2757F2-2F4A-475A-A4D1-4806E289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Preliminary pilot finding</a:t>
            </a:r>
          </a:p>
        </p:txBody>
      </p:sp>
      <p:sp>
        <p:nvSpPr>
          <p:cNvPr id="8" name="title-claim-body">
            <a:extLst xmlns:a="http://schemas.openxmlformats.org/drawingml/2006/main">
              <a:ext uri="{FF2B5EF4-FFF2-40B4-BE49-F238E27FC236}">
                <a16:creationId xmlns:a16="http://schemas.microsoft.com/office/drawing/2014/main" id="{091783A8-7723-48AF-91D4-2CCA0B71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Human judgement shows a directional raw signal, but length explains enough that the responsible claim is methodological rather than conclusive.</a:t>
            </a:r>
          </a:p>
        </p:txBody>
      </p:sp>
      <p:sp>
        <p:nvSpPr>
          <p:cNvPr id="9" name="title-footer">
            <a:extLst xmlns:a="http://schemas.openxmlformats.org/drawingml/2006/main">
              <a:ext uri="{FF2B5EF4-FFF2-40B4-BE49-F238E27FC236}">
                <a16:creationId xmlns:a16="http://schemas.microsoft.com/office/drawing/2014/main" id="{065F4163-D6FB-46A1-988E-7B4F5C27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Published abstract: theoretical framework, corpus rationale, preliminary pilot findings</a:t>
            </a:r>
          </a:p>
        </p:txBody>
      </p:sp>
    </p:spTree>
    <p:extLst>
      <p:ext uri="{BB962C8B-B14F-4D97-AF65-F5344CB8AC3E}">
        <p14:creationId xmlns:p14="http://schemas.microsoft.com/office/powerpoint/2010/main" val="1249347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0356D554-E098-44C0-967E-337AFEC4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slide-no-2">
            <a:extLst xmlns:a="http://schemas.openxmlformats.org/drawingml/2006/main">
              <a:ext uri="{FF2B5EF4-FFF2-40B4-BE49-F238E27FC236}">
                <a16:creationId xmlns:a16="http://schemas.microsoft.com/office/drawing/2014/main" id="{530F6D62-25E6-4D52-9270-6EF7E956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9CFD0DCB-6221-48DA-820F-4C6A9415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 single fluent translation hides a plural process</a:t>
            </a:r>
          </a:p>
        </p:txBody>
      </p:sp>
      <p:sp>
        <p:nvSpPr>
          <p:cNvPr id="4" name="top-rule-2">
            <a:extLst xmlns:a="http://schemas.openxmlformats.org/drawingml/2006/main">
              <a:ext uri="{FF2B5EF4-FFF2-40B4-BE49-F238E27FC236}">
                <a16:creationId xmlns:a16="http://schemas.microsoft.com/office/drawing/2014/main" id="{A2771DC2-260B-4643-9EE4-8DDEAD47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9EB50F4C-72A7-4790-B448-54526720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single-output">
            <a:extLst xmlns:a="http://schemas.openxmlformats.org/drawingml/2006/main">
              <a:ext uri="{FF2B5EF4-FFF2-40B4-BE49-F238E27FC236}">
                <a16:creationId xmlns:a16="http://schemas.microsoft.com/office/drawing/2014/main" id="{03E6346B-E02D-4E4A-8B78-20793BEF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76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pert-process">
            <a:extLst xmlns:a="http://schemas.openxmlformats.org/drawingml/2006/main">
              <a:ext uri="{FF2B5EF4-FFF2-40B4-BE49-F238E27FC236}">
                <a16:creationId xmlns:a16="http://schemas.microsoft.com/office/drawing/2014/main" id="{3655B4D0-11AD-490C-9299-D4528663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476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ncient-risk">
            <a:extLst xmlns:a="http://schemas.openxmlformats.org/drawingml/2006/main">
              <a:ext uri="{FF2B5EF4-FFF2-40B4-BE49-F238E27FC236}">
                <a16:creationId xmlns:a16="http://schemas.microsoft.com/office/drawing/2014/main" id="{B0730CC6-2B96-4356-9176-42489A57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476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ngle-output-title">
            <a:extLst xmlns:a="http://schemas.openxmlformats.org/drawingml/2006/main">
              <a:ext uri="{FF2B5EF4-FFF2-40B4-BE49-F238E27FC236}">
                <a16:creationId xmlns:a16="http://schemas.microsoft.com/office/drawing/2014/main" id="{0496EB51-9D15-45E5-AD19-D23EE808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Reader sees</a:t>
            </a:r>
          </a:p>
        </p:txBody>
      </p:sp>
      <p:sp>
        <p:nvSpPr>
          <p:cNvPr id="10" name="single-output-body">
            <a:extLst xmlns:a="http://schemas.openxmlformats.org/drawingml/2006/main">
              <a:ext uri="{FF2B5EF4-FFF2-40B4-BE49-F238E27FC236}">
                <a16:creationId xmlns:a16="http://schemas.microsoft.com/office/drawing/2014/main" id="{19CF493B-DCBA-48E0-917C-C2AC9805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one clean English surface</a:t>
            </a:r>
          </a:p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one implied authority</a:t>
            </a:r>
          </a:p>
          <a:p xmlns:a="http://schemas.openxmlformats.org/drawingml/2006/main">
            <a:pPr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one path through ambiguity</a:t>
            </a:r>
          </a:p>
        </p:txBody>
      </p:sp>
      <p:sp>
        <p:nvSpPr>
          <p:cNvPr id="11" name="expert-process-title">
            <a:extLst xmlns:a="http://schemas.openxmlformats.org/drawingml/2006/main">
              <a:ext uri="{FF2B5EF4-FFF2-40B4-BE49-F238E27FC236}">
                <a16:creationId xmlns:a16="http://schemas.microsoft.com/office/drawing/2014/main" id="{E55D920A-0CA1-463F-8B41-593A0F2C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Translator does</a:t>
            </a:r>
          </a:p>
        </p:txBody>
      </p:sp>
      <p:sp>
        <p:nvSpPr>
          <p:cNvPr id="12" name="expert-process-body">
            <a:extLst xmlns:a="http://schemas.openxmlformats.org/drawingml/2006/main">
              <a:ext uri="{FF2B5EF4-FFF2-40B4-BE49-F238E27FC236}">
                <a16:creationId xmlns:a16="http://schemas.microsoft.com/office/drawing/2014/main" id="{732F34EC-A709-4B8D-A685-D7ED0752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alternatives</a:t>
            </a:r>
          </a:p>
          <a:p xmlns:a="http://schemas.openxmlformats.org/drawingml/2006/main">
            <a:pPr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constraints</a:t>
            </a:r>
          </a:p>
          <a:p xmlns:a="http://schemas.openxmlformats.org/drawingml/2006/main">
            <a:pPr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purposes</a:t>
            </a:r>
          </a:p>
          <a:p xmlns:a="http://schemas.openxmlformats.org/drawingml/2006/main">
            <a:pPr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risk management</a:t>
            </a:r>
          </a:p>
        </p:txBody>
      </p:sp>
      <p:sp>
        <p:nvSpPr>
          <p:cNvPr id="13" name="ancient-risk-title">
            <a:extLst xmlns:a="http://schemas.openxmlformats.org/drawingml/2006/main">
              <a:ext uri="{FF2B5EF4-FFF2-40B4-BE49-F238E27FC236}">
                <a16:creationId xmlns:a16="http://schemas.microsoft.com/office/drawing/2014/main" id="{4066D035-4F93-4D29-B436-86256306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AI can compress</a:t>
            </a:r>
          </a:p>
        </p:txBody>
      </p:sp>
      <p:sp>
        <p:nvSpPr>
          <p:cNvPr id="14" name="ancient-risk-body">
            <a:extLst xmlns:a="http://schemas.openxmlformats.org/drawingml/2006/main">
              <a:ext uri="{FF2B5EF4-FFF2-40B4-BE49-F238E27FC236}">
                <a16:creationId xmlns:a16="http://schemas.microsoft.com/office/drawing/2014/main" id="{6B39A167-7A16-40A0-A453-C07B4830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low-resource uncertainty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fragmentary evidence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cultural specificity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into fluent confidence</a:t>
            </a:r>
          </a:p>
        </p:txBody>
      </p:sp>
      <p:sp>
        <p:nvSpPr>
          <p:cNvPr id="15" name="problem-close">
            <a:extLst xmlns:a="http://schemas.openxmlformats.org/drawingml/2006/main">
              <a:ext uri="{FF2B5EF4-FFF2-40B4-BE49-F238E27FC236}">
                <a16:creationId xmlns:a16="http://schemas.microsoft.com/office/drawing/2014/main" id="{3E790738-612D-412D-B009-A34F5A1A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The problem is not abundance. The problem is unstructured abundance.</a:t>
            </a:r>
          </a:p>
        </p:txBody>
      </p:sp>
    </p:spTree>
    <p:extLst>
      <p:ext uri="{BB962C8B-B14F-4D97-AF65-F5344CB8AC3E}">
        <p14:creationId xmlns:p14="http://schemas.microsoft.com/office/powerpoint/2010/main" val="659637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40E60071-E381-4211-AA0E-2345943E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METHOD</a:t>
            </a:r>
          </a:p>
        </p:txBody>
      </p:sp>
      <p:sp>
        <p:nvSpPr>
          <p:cNvPr id="2" name="slide-no-3">
            <a:extLst xmlns:a="http://schemas.openxmlformats.org/drawingml/2006/main">
              <a:ext uri="{FF2B5EF4-FFF2-40B4-BE49-F238E27FC236}">
                <a16:creationId xmlns:a16="http://schemas.microsoft.com/office/drawing/2014/main" id="{FD47ACBB-C67B-4DA7-A972-6BD1B5EC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D719DA0D-911E-49F3-84A2-13A6E950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Parallage turns AI abundance into inspectable evidence</a:t>
            </a:r>
          </a:p>
        </p:txBody>
      </p:sp>
      <p:sp>
        <p:nvSpPr>
          <p:cNvPr id="4" name="top-rule-3">
            <a:extLst xmlns:a="http://schemas.openxmlformats.org/drawingml/2006/main">
              <a:ext uri="{FF2B5EF4-FFF2-40B4-BE49-F238E27FC236}">
                <a16:creationId xmlns:a16="http://schemas.microsoft.com/office/drawing/2014/main" id="{DDE4659D-1F73-4F09-AA87-64F6874F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36E778F8-D0D4-4C82-B61E-66F3F8D5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pack-label">
            <a:extLst xmlns:a="http://schemas.openxmlformats.org/drawingml/2006/main">
              <a:ext uri="{FF2B5EF4-FFF2-40B4-BE49-F238E27FC236}">
                <a16:creationId xmlns:a16="http://schemas.microsoft.com/office/drawing/2014/main" id="{3BB2F59A-D51E-4FCD-A555-590EC65B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A translation pack is not a vote. It is a structured field of alternatives.</a:t>
            </a:r>
          </a:p>
        </p:txBody>
      </p:sp>
      <p:sp>
        <p:nvSpPr>
          <p:cNvPr id="7" name="pack-literal">
            <a:extLst xmlns:a="http://schemas.openxmlformats.org/drawingml/2006/main">
              <a:ext uri="{FF2B5EF4-FFF2-40B4-BE49-F238E27FC236}">
                <a16:creationId xmlns:a16="http://schemas.microsoft.com/office/drawing/2014/main" id="{AA805B51-63BD-4013-B3ED-2FCCA47F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1952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ck-literal-head">
            <a:extLst xmlns:a="http://schemas.openxmlformats.org/drawingml/2006/main">
              <a:ext uri="{FF2B5EF4-FFF2-40B4-BE49-F238E27FC236}">
                <a16:creationId xmlns:a16="http://schemas.microsoft.com/office/drawing/2014/main" id="{E8FC684C-55D4-403A-B245-1A61091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literal</a:t>
            </a:r>
          </a:p>
        </p:txBody>
      </p:sp>
      <p:sp>
        <p:nvSpPr>
          <p:cNvPr id="9" name="pack-literal-body">
            <a:extLst xmlns:a="http://schemas.openxmlformats.org/drawingml/2006/main">
              <a:ext uri="{FF2B5EF4-FFF2-40B4-BE49-F238E27FC236}">
                <a16:creationId xmlns:a16="http://schemas.microsoft.com/office/drawing/2014/main" id="{EE0A8032-A83B-46F0-AF63-EBB6C6A3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source-facing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control</a:t>
            </a:r>
          </a:p>
        </p:txBody>
      </p:sp>
      <p:sp>
        <p:nvSpPr>
          <p:cNvPr id="10" name="pack-readable">
            <a:extLst xmlns:a="http://schemas.openxmlformats.org/drawingml/2006/main">
              <a:ext uri="{FF2B5EF4-FFF2-40B4-BE49-F238E27FC236}">
                <a16:creationId xmlns:a16="http://schemas.microsoft.com/office/drawing/2014/main" id="{4510EA19-8113-4FAF-9F89-E816559E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05125"/>
            <a:ext cx="1952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ck-readable-head">
            <a:extLst xmlns:a="http://schemas.openxmlformats.org/drawingml/2006/main">
              <a:ext uri="{FF2B5EF4-FFF2-40B4-BE49-F238E27FC236}">
                <a16:creationId xmlns:a16="http://schemas.microsoft.com/office/drawing/2014/main" id="{975B8F23-4152-47D9-9CAA-B28409A0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readable</a:t>
            </a:r>
          </a:p>
        </p:txBody>
      </p:sp>
      <p:sp>
        <p:nvSpPr>
          <p:cNvPr id="12" name="pack-readable-body">
            <a:extLst xmlns:a="http://schemas.openxmlformats.org/drawingml/2006/main">
              <a:ext uri="{FF2B5EF4-FFF2-40B4-BE49-F238E27FC236}">
                <a16:creationId xmlns:a16="http://schemas.microsoft.com/office/drawing/2014/main" id="{AA660ECF-BDCF-4626-BA42-8A3F3602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385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reader-facing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continuity</a:t>
            </a:r>
          </a:p>
        </p:txBody>
      </p:sp>
      <p:sp>
        <p:nvSpPr>
          <p:cNvPr id="13" name="pack-interpretive">
            <a:extLst xmlns:a="http://schemas.openxmlformats.org/drawingml/2006/main">
              <a:ext uri="{FF2B5EF4-FFF2-40B4-BE49-F238E27FC236}">
                <a16:creationId xmlns:a16="http://schemas.microsoft.com/office/drawing/2014/main" id="{18D41260-024D-4732-AF8F-D325D152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1952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ck-interpretive-head">
            <a:extLst xmlns:a="http://schemas.openxmlformats.org/drawingml/2006/main">
              <a:ext uri="{FF2B5EF4-FFF2-40B4-BE49-F238E27FC236}">
                <a16:creationId xmlns:a16="http://schemas.microsoft.com/office/drawing/2014/main" id="{931B37B5-3714-4D6C-80A3-9D261CA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interpretive</a:t>
            </a:r>
          </a:p>
        </p:txBody>
      </p:sp>
      <p:sp>
        <p:nvSpPr>
          <p:cNvPr id="15" name="pack-interpretive-body">
            <a:extLst xmlns:a="http://schemas.openxmlformats.org/drawingml/2006/main">
              <a:ext uri="{FF2B5EF4-FFF2-40B4-BE49-F238E27FC236}">
                <a16:creationId xmlns:a16="http://schemas.microsoft.com/office/drawing/2014/main" id="{E1FA5E81-1D14-48DC-A2C6-56D65D57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385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scholarly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commitment</a:t>
            </a:r>
          </a:p>
        </p:txBody>
      </p:sp>
      <p:sp>
        <p:nvSpPr>
          <p:cNvPr id="16" name="pack-uncertainty">
            <a:extLst xmlns:a="http://schemas.openxmlformats.org/drawingml/2006/main">
              <a:ext uri="{FF2B5EF4-FFF2-40B4-BE49-F238E27FC236}">
                <a16:creationId xmlns:a16="http://schemas.microsoft.com/office/drawing/2014/main" id="{98038A7D-46F4-4E44-96A2-6D0F661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05125"/>
            <a:ext cx="1952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ck-uncertainty-head">
            <a:extLst xmlns:a="http://schemas.openxmlformats.org/drawingml/2006/main">
              <a:ext uri="{FF2B5EF4-FFF2-40B4-BE49-F238E27FC236}">
                <a16:creationId xmlns:a16="http://schemas.microsoft.com/office/drawing/2014/main" id="{6A2BEF9E-89F9-4B9F-AFC8-3C69C625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uncertainty</a:t>
            </a:r>
          </a:p>
        </p:txBody>
      </p:sp>
      <p:sp>
        <p:nvSpPr>
          <p:cNvPr id="18" name="pack-uncertainty-body">
            <a:extLst xmlns:a="http://schemas.openxmlformats.org/drawingml/2006/main">
              <a:ext uri="{FF2B5EF4-FFF2-40B4-BE49-F238E27FC236}">
                <a16:creationId xmlns:a16="http://schemas.microsoft.com/office/drawing/2014/main" id="{5E2E39D4-E70E-4FE0-89B3-57980E5F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marked doubt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and alternatives</a:t>
            </a:r>
          </a:p>
        </p:txBody>
      </p:sp>
      <p:sp>
        <p:nvSpPr>
          <p:cNvPr id="19" name="pack-adversarial">
            <a:extLst xmlns:a="http://schemas.openxmlformats.org/drawingml/2006/main">
              <a:ext uri="{FF2B5EF4-FFF2-40B4-BE49-F238E27FC236}">
                <a16:creationId xmlns:a16="http://schemas.microsoft.com/office/drawing/2014/main" id="{AE0383A5-953D-44B1-B7E5-EAD0A4E8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05125"/>
            <a:ext cx="1952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ck-adversarial-head">
            <a:extLst xmlns:a="http://schemas.openxmlformats.org/drawingml/2006/main">
              <a:ext uri="{FF2B5EF4-FFF2-40B4-BE49-F238E27FC236}">
                <a16:creationId xmlns:a16="http://schemas.microsoft.com/office/drawing/2014/main" id="{18D16E2A-9652-4ED7-818B-97AED106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adversarial</a:t>
            </a:r>
          </a:p>
        </p:txBody>
      </p:sp>
      <p:sp>
        <p:nvSpPr>
          <p:cNvPr id="21" name="pack-adversarial-body">
            <a:extLst xmlns:a="http://schemas.openxmlformats.org/drawingml/2006/main">
              <a:ext uri="{FF2B5EF4-FFF2-40B4-BE49-F238E27FC236}">
                <a16:creationId xmlns:a16="http://schemas.microsoft.com/office/drawing/2014/main" id="{18F7876F-40F4-4A90-BD84-EC5E8727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385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challenge case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against fluency</a:t>
            </a:r>
          </a:p>
        </p:txBody>
      </p:sp>
      <p:sp>
        <p:nvSpPr>
          <p:cNvPr id="22" name="pack-cues">
            <a:extLst xmlns:a="http://schemas.openxmlformats.org/drawingml/2006/main">
              <a:ext uri="{FF2B5EF4-FFF2-40B4-BE49-F238E27FC236}">
                <a16:creationId xmlns:a16="http://schemas.microsoft.com/office/drawing/2014/main" id="{1B66739F-A006-43EC-B3C3-1525278E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14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Inspection cues: source-segment alignment | named entities | ambiguity points | differences that matter</a:t>
            </a:r>
          </a:p>
        </p:txBody>
      </p:sp>
    </p:spTree>
    <p:extLst>
      <p:ext uri="{BB962C8B-B14F-4D97-AF65-F5344CB8AC3E}">
        <p14:creationId xmlns:p14="http://schemas.microsoft.com/office/powerpoint/2010/main" val="80798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BE952CF6-D15C-4189-84E2-FE7306AB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CORPUS</a:t>
            </a:r>
          </a:p>
        </p:txBody>
      </p:sp>
      <p:sp>
        <p:nvSpPr>
          <p:cNvPr id="2" name="slide-no-4">
            <a:extLst xmlns:a="http://schemas.openxmlformats.org/drawingml/2006/main">
              <a:ext uri="{FF2B5EF4-FFF2-40B4-BE49-F238E27FC236}">
                <a16:creationId xmlns:a16="http://schemas.microsoft.com/office/drawing/2014/main" id="{A826BC5B-1000-4F70-86E3-9F63B4FC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B8B4932D-2211-4CAA-B57B-C442F64D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corpus makes reliability hard to outsource</a:t>
            </a:r>
          </a:p>
        </p:txBody>
      </p:sp>
      <p:sp>
        <p:nvSpPr>
          <p:cNvPr id="4" name="top-rule-4">
            <a:extLst xmlns:a="http://schemas.openxmlformats.org/drawingml/2006/main">
              <a:ext uri="{FF2B5EF4-FFF2-40B4-BE49-F238E27FC236}">
                <a16:creationId xmlns:a16="http://schemas.microsoft.com/office/drawing/2014/main" id="{A9CE1912-1F6C-425C-BDA1-4984328F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A163A279-71FC-48FC-8B7F-72420777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greek-panel">
            <a:extLst xmlns:a="http://schemas.openxmlformats.org/drawingml/2006/main">
              <a:ext uri="{FF2B5EF4-FFF2-40B4-BE49-F238E27FC236}">
                <a16:creationId xmlns:a16="http://schemas.microsoft.com/office/drawing/2014/main" id="{6FA83898-A0E7-49B8-A432-934192A9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334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inese-panel">
            <a:extLst xmlns:a="http://schemas.openxmlformats.org/drawingml/2006/main">
              <a:ext uri="{FF2B5EF4-FFF2-40B4-BE49-F238E27FC236}">
                <a16:creationId xmlns:a16="http://schemas.microsoft.com/office/drawing/2014/main" id="{2AC5DD55-791D-4E0B-9522-7DD27377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334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eek-title">
            <a:extLst xmlns:a="http://schemas.openxmlformats.org/drawingml/2006/main">
              <a:ext uri="{FF2B5EF4-FFF2-40B4-BE49-F238E27FC236}">
                <a16:creationId xmlns:a16="http://schemas.microsoft.com/office/drawing/2014/main" id="{7F34B914-CF86-464F-A71B-3679D591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Stephanos of Byzantium, Ethnica</a:t>
            </a:r>
          </a:p>
        </p:txBody>
      </p:sp>
      <p:sp>
        <p:nvSpPr>
          <p:cNvPr id="9" name="greek-bullets">
            <a:extLst xmlns:a="http://schemas.openxmlformats.org/drawingml/2006/main">
              <a:ext uri="{FF2B5EF4-FFF2-40B4-BE49-F238E27FC236}">
                <a16:creationId xmlns:a16="http://schemas.microsoft.com/office/drawing/2014/main" id="{632483DB-BD29-4C89-ADB8-6D22D67D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4333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- geographical lexicon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- compressed source tradition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- named entities carry the argument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- pilot analysis available now</a:t>
            </a:r>
          </a:p>
        </p:txBody>
      </p:sp>
      <p:sp>
        <p:nvSpPr>
          <p:cNvPr id="10" name="chinese-title">
            <a:extLst xmlns:a="http://schemas.openxmlformats.org/drawingml/2006/main">
              <a:ext uri="{FF2B5EF4-FFF2-40B4-BE49-F238E27FC236}">
                <a16:creationId xmlns:a16="http://schemas.microsoft.com/office/drawing/2014/main" id="{8025AC9F-9503-47E5-993C-AE7D167A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28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Hanshu Dilizhi</a:t>
            </a:r>
          </a:p>
        </p:txBody>
      </p:sp>
      <p:sp>
        <p:nvSpPr>
          <p:cNvPr id="11" name="chinese-bullets">
            <a:extLst xmlns:a="http://schemas.openxmlformats.org/drawingml/2006/main">
              <a:ext uri="{FF2B5EF4-FFF2-40B4-BE49-F238E27FC236}">
                <a16:creationId xmlns:a16="http://schemas.microsoft.com/office/drawing/2014/main" id="{60610928-1258-4638-AD79-6F4802B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5625"/>
            <a:ext cx="4333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- Classical Chinese geography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- dense administrative and cultural categories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- tests the same method outside Greek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- evaluation stream still to complete</a:t>
            </a:r>
          </a:p>
        </p:txBody>
      </p:sp>
      <p:sp>
        <p:nvSpPr>
          <p:cNvPr id="12" name="corpus-conclusion">
            <a:extLst xmlns:a="http://schemas.openxmlformats.org/drawingml/2006/main">
              <a:ext uri="{FF2B5EF4-FFF2-40B4-BE49-F238E27FC236}">
                <a16:creationId xmlns:a16="http://schemas.microsoft.com/office/drawing/2014/main" id="{77A0EC6B-3399-47EB-BEF6-BA32A76D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Neither case lets a non-source-language reader simply defer to a stable complete English translation.</a:t>
            </a:r>
          </a:p>
        </p:txBody>
      </p:sp>
    </p:spTree>
    <p:extLst>
      <p:ext uri="{BB962C8B-B14F-4D97-AF65-F5344CB8AC3E}">
        <p14:creationId xmlns:p14="http://schemas.microsoft.com/office/powerpoint/2010/main" val="1524708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47769571-FA6A-428D-9A71-2F2215F9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PILOT DESIGN</a:t>
            </a:r>
          </a:p>
        </p:txBody>
      </p:sp>
      <p:sp>
        <p:nvSpPr>
          <p:cNvPr id="2" name="slide-no-5">
            <a:extLst xmlns:a="http://schemas.openxmlformats.org/drawingml/2006/main">
              <a:ext uri="{FF2B5EF4-FFF2-40B4-BE49-F238E27FC236}">
                <a16:creationId xmlns:a16="http://schemas.microsoft.com/office/drawing/2014/main" id="{0081FC11-F6A7-4C12-B53C-5E215E2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0CFAD042-619E-4434-81A9-E05B7A6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first pilot asks whether expert judgement tracks overlap fragility</a:t>
            </a:r>
          </a:p>
        </p:txBody>
      </p:sp>
      <p:sp>
        <p:nvSpPr>
          <p:cNvPr id="4" name="top-rule-5">
            <a:extLst xmlns:a="http://schemas.openxmlformats.org/drawingml/2006/main">
              <a:ext uri="{FF2B5EF4-FFF2-40B4-BE49-F238E27FC236}">
                <a16:creationId xmlns:a16="http://schemas.microsoft.com/office/drawing/2014/main" id="{9CF376D6-3669-4336-89C1-15582DB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1AA49980-BF70-437F-A0B8-987816BD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n-panel">
            <a:extLst xmlns:a="http://schemas.openxmlformats.org/drawingml/2006/main">
              <a:ext uri="{FF2B5EF4-FFF2-40B4-BE49-F238E27FC236}">
                <a16:creationId xmlns:a16="http://schemas.microsoft.com/office/drawing/2014/main" id="{F9BB8120-0A44-4383-A015-F513BF3F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-value">
            <a:extLst xmlns:a="http://schemas.openxmlformats.org/drawingml/2006/main">
              <a:ext uri="{FF2B5EF4-FFF2-40B4-BE49-F238E27FC236}">
                <a16:creationId xmlns:a16="http://schemas.microsoft.com/office/drawing/2014/main" id="{F8C2AC06-B46C-4ED8-9B7C-A9A60CF6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n=10</a:t>
            </a:r>
          </a:p>
        </p:txBody>
      </p:sp>
      <p:sp>
        <p:nvSpPr>
          <p:cNvPr id="8" name="n-label">
            <a:extLst xmlns:a="http://schemas.openxmlformats.org/drawingml/2006/main">
              <a:ext uri="{FF2B5EF4-FFF2-40B4-BE49-F238E27FC236}">
                <a16:creationId xmlns:a16="http://schemas.microsoft.com/office/drawing/2014/main" id="{7545D7FE-CC94-41AD-BE79-B035456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Vanessa Set 1 Greek passages</a:t>
            </a:r>
          </a:p>
        </p:txBody>
      </p:sp>
      <p:sp>
        <p:nvSpPr>
          <p:cNvPr id="9" name="range-panel">
            <a:extLst xmlns:a="http://schemas.openxmlformats.org/drawingml/2006/main">
              <a:ext uri="{FF2B5EF4-FFF2-40B4-BE49-F238E27FC236}">
                <a16:creationId xmlns:a16="http://schemas.microsoft.com/office/drawing/2014/main" id="{740382DA-B818-4FF9-AFE0-0505E9E5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955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ange-value">
            <a:extLst xmlns:a="http://schemas.openxmlformats.org/drawingml/2006/main">
              <a:ext uri="{FF2B5EF4-FFF2-40B4-BE49-F238E27FC236}">
                <a16:creationId xmlns:a16="http://schemas.microsoft.com/office/drawing/2014/main" id="{4C458134-7697-43C3-B2C5-20877945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18-268</a:t>
            </a:r>
          </a:p>
        </p:txBody>
      </p:sp>
      <p:sp>
        <p:nvSpPr>
          <p:cNvPr id="11" name="range-label">
            <a:extLst xmlns:a="http://schemas.openxmlformats.org/drawingml/2006/main">
              <a:ext uri="{FF2B5EF4-FFF2-40B4-BE49-F238E27FC236}">
                <a16:creationId xmlns:a16="http://schemas.microsoft.com/office/drawing/2014/main" id="{6AD6376F-A773-44E2-B364-D8F7EE9F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76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reference words per passage</a:t>
            </a:r>
          </a:p>
        </p:txBody>
      </p:sp>
      <p:sp>
        <p:nvSpPr>
          <p:cNvPr id="12" name="metrics-panel">
            <a:extLst xmlns:a="http://schemas.openxmlformats.org/drawingml/2006/main">
              <a:ext uri="{FF2B5EF4-FFF2-40B4-BE49-F238E27FC236}">
                <a16:creationId xmlns:a16="http://schemas.microsoft.com/office/drawing/2014/main" id="{9FB4EADE-F196-4D63-AECE-57371670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955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s-value">
            <a:extLst xmlns:a="http://schemas.openxmlformats.org/drawingml/2006/main">
              <a:ext uri="{FF2B5EF4-FFF2-40B4-BE49-F238E27FC236}">
                <a16:creationId xmlns:a16="http://schemas.microsoft.com/office/drawing/2014/main" id="{22C57290-1D14-4C6B-9B70-9BA6B42E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4" name="metrics-label">
            <a:extLst xmlns:a="http://schemas.openxmlformats.org/drawingml/2006/main">
              <a:ext uri="{FF2B5EF4-FFF2-40B4-BE49-F238E27FC236}">
                <a16:creationId xmlns:a16="http://schemas.microsoft.com/office/drawing/2014/main" id="{B41DE197-F1A2-443F-8BE7-DC621E16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76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BLEU, ROUGE-L, 3-gram F1</a:t>
            </a:r>
          </a:p>
        </p:txBody>
      </p:sp>
      <p:sp>
        <p:nvSpPr>
          <p:cNvPr id="15" name="population-panel">
            <a:extLst xmlns:a="http://schemas.openxmlformats.org/drawingml/2006/main">
              <a:ext uri="{FF2B5EF4-FFF2-40B4-BE49-F238E27FC236}">
                <a16:creationId xmlns:a16="http://schemas.microsoft.com/office/drawing/2014/main" id="{5AEC9431-EA29-4F1E-9446-4BD04826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opulation-value">
            <a:extLst xmlns:a="http://schemas.openxmlformats.org/drawingml/2006/main">
              <a:ext uri="{FF2B5EF4-FFF2-40B4-BE49-F238E27FC236}">
                <a16:creationId xmlns:a16="http://schemas.microsoft.com/office/drawing/2014/main" id="{71A8B7A6-7F61-4B8A-9C9F-9736D224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101</a:t>
            </a:r>
          </a:p>
        </p:txBody>
      </p:sp>
      <p:sp>
        <p:nvSpPr>
          <p:cNvPr id="17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9488AFE0-F7F7-4552-8132-75946705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v3 rows for length model</a:t>
            </a:r>
          </a:p>
        </p:txBody>
      </p:sp>
      <p:sp>
        <p:nvSpPr>
          <p:cNvPr id="18" name="pilot-bullets">
            <a:extLst xmlns:a="http://schemas.openxmlformats.org/drawingml/2006/main">
              <a:ext uri="{FF2B5EF4-FFF2-40B4-BE49-F238E27FC236}">
                <a16:creationId xmlns:a16="http://schemas.microsoft.com/office/drawing/2014/main" id="{58B55348-81E3-43DF-8E6A-B92C0FC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- Vanessa rated expected divergence from hidden human translations.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- We compared those ratings with sentence-aligned overlap metrics.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- Then we adjusted scores for reference length, because all three metrics worsen on longer documents.</a:t>
            </a:r>
          </a:p>
        </p:txBody>
      </p:sp>
    </p:spTree>
    <p:extLst>
      <p:ext uri="{BB962C8B-B14F-4D97-AF65-F5344CB8AC3E}">
        <p14:creationId xmlns:p14="http://schemas.microsoft.com/office/powerpoint/2010/main" val="1291977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61162D29-9F14-41AC-B0D9-915175EB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RAW EVIDENCE</a:t>
            </a:r>
          </a:p>
        </p:txBody>
      </p:sp>
      <p:sp>
        <p:nvSpPr>
          <p:cNvPr id="2" name="slide-no-6">
            <a:extLst xmlns:a="http://schemas.openxmlformats.org/drawingml/2006/main">
              <a:ext uri="{FF2B5EF4-FFF2-40B4-BE49-F238E27FC236}">
                <a16:creationId xmlns:a16="http://schemas.microsoft.com/office/drawing/2014/main" id="{8B074E5B-97B8-4B18-8AF7-09CA467B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6E9B8A9E-3E42-4169-A90F-849FCE02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Raw overlap gives a directional but fragile signal</a:t>
            </a:r>
          </a:p>
        </p:txBody>
      </p:sp>
      <p:sp>
        <p:nvSpPr>
          <p:cNvPr id="4" name="top-rule-6">
            <a:extLst xmlns:a="http://schemas.openxmlformats.org/drawingml/2006/main">
              <a:ext uri="{FF2B5EF4-FFF2-40B4-BE49-F238E27FC236}">
                <a16:creationId xmlns:a16="http://schemas.microsoft.com/office/drawing/2014/main" id="{127A5CB3-ED81-4115-B934-5BDF7FE2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5276DEE6-76AB-45B7-AF59-AE16E0D0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raw-plot-frame">
            <a:extLst xmlns:a="http://schemas.openxmlformats.org/drawingml/2006/main">
              <a:ext uri="{FF2B5EF4-FFF2-40B4-BE49-F238E27FC236}">
                <a16:creationId xmlns:a16="http://schemas.microsoft.com/office/drawing/2014/main" id="{C69EEC2C-2312-4B40-8008-CEDF2B9A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723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5c7bb6e234705"/>
          <a:stretch xmlns:a="http://schemas.openxmlformats.org/drawingml/2006/main"/>
        </p:blipFill>
        <p:spPr>
          <a:xfrm xmlns:a="http://schemas.openxmlformats.org/drawingml/2006/main">
            <a:off x="1480849" y="2038350"/>
            <a:ext cx="5077402" cy="3676650"/>
          </a:xfrm>
          <a:prstGeom xmlns:a="http://schemas.openxmlformats.org/drawingml/2006/main" prst="rect">
            <a:avLst/>
          </a:prstGeom>
        </p:spPr>
      </p:pic>
      <p:sp>
        <p:nvSpPr>
          <p:cNvPr id="8" name="raw-readout">
            <a:extLst xmlns:a="http://schemas.openxmlformats.org/drawingml/2006/main">
              <a:ext uri="{FF2B5EF4-FFF2-40B4-BE49-F238E27FC236}">
                <a16:creationId xmlns:a16="http://schemas.microsoft.com/office/drawing/2014/main" id="{A06494A4-01C6-41A9-A053-5095FDFD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7719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w-readout-title">
            <a:extLst xmlns:a="http://schemas.openxmlformats.org/drawingml/2006/main">
              <a:ext uri="{FF2B5EF4-FFF2-40B4-BE49-F238E27FC236}">
                <a16:creationId xmlns:a16="http://schemas.microsoft.com/office/drawing/2014/main" id="{C86CB30A-533A-44C0-83AE-6AA4F7AB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Spearman r</a:t>
            </a:r>
          </a:p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rating vs raw score</a:t>
            </a:r>
          </a:p>
        </p:txBody>
      </p:sp>
      <p:sp>
        <p:nvSpPr>
          <p:cNvPr id="10" name="raw-readout-values">
            <a:extLst xmlns:a="http://schemas.openxmlformats.org/drawingml/2006/main">
              <a:ext uri="{FF2B5EF4-FFF2-40B4-BE49-F238E27FC236}">
                <a16:creationId xmlns:a16="http://schemas.microsoft.com/office/drawing/2014/main" id="{AB0D016D-48A1-41A6-986B-4E9F3C6A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86125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BLEU: -0.37</a:t>
            </a:r>
          </a:p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ROUGE-L: -0.49</a:t>
            </a:r>
          </a:p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3-gram F1: -0.48</a:t>
            </a:r>
          </a:p>
        </p:txBody>
      </p:sp>
      <p:sp>
        <p:nvSpPr>
          <p:cNvPr id="11" name="raw-readout-note">
            <a:extLst xmlns:a="http://schemas.openxmlformats.org/drawingml/2006/main">
              <a:ext uri="{FF2B5EF4-FFF2-40B4-BE49-F238E27FC236}">
                <a16:creationId xmlns:a16="http://schemas.microsoft.com/office/drawing/2014/main" id="{2B3EC96C-220F-4928-AFDF-756D781A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Negative is the expected direction: higher human divergence rating, lower lexical overlap.</a:t>
            </a:r>
          </a:p>
        </p:txBody>
      </p:sp>
    </p:spTree>
    <p:extLst>
      <p:ext uri="{BB962C8B-B14F-4D97-AF65-F5344CB8AC3E}">
        <p14:creationId xmlns:p14="http://schemas.microsoft.com/office/powerpoint/2010/main" val="2057800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33BB6170-CD0A-46F3-B6BD-171F0A71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LENGTH CONFOUND</a:t>
            </a:r>
          </a:p>
        </p:txBody>
      </p:sp>
      <p:sp>
        <p:nvSpPr>
          <p:cNvPr id="2" name="slide-no-7">
            <a:extLst xmlns:a="http://schemas.openxmlformats.org/drawingml/2006/main">
              <a:ext uri="{FF2B5EF4-FFF2-40B4-BE49-F238E27FC236}">
                <a16:creationId xmlns:a16="http://schemas.microsoft.com/office/drawing/2014/main" id="{CCD7BB69-1E99-4746-A4B4-3EA22BD4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2BEC91FA-5768-4013-AF2F-1FE8625E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Length is a real confound, not a footnote</a:t>
            </a:r>
          </a:p>
        </p:txBody>
      </p:sp>
      <p:sp>
        <p:nvSpPr>
          <p:cNvPr id="4" name="top-rule-7">
            <a:extLst xmlns:a="http://schemas.openxmlformats.org/drawingml/2006/main">
              <a:ext uri="{FF2B5EF4-FFF2-40B4-BE49-F238E27FC236}">
                <a16:creationId xmlns:a16="http://schemas.microsoft.com/office/drawing/2014/main" id="{28D0E9FB-DE54-4D40-9B31-9A599B45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01604BF4-52BC-4F92-8B02-27342D13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population-plot-frame">
            <a:extLst xmlns:a="http://schemas.openxmlformats.org/drawingml/2006/main">
              <a:ext uri="{FF2B5EF4-FFF2-40B4-BE49-F238E27FC236}">
                <a16:creationId xmlns:a16="http://schemas.microsoft.com/office/drawing/2014/main" id="{B42EB51D-74C0-4A7F-8D38-7173F206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d25462cd94379"/>
          <a:stretch xmlns:a="http://schemas.openxmlformats.org/drawingml/2006/main"/>
        </p:blipFill>
        <p:spPr>
          <a:xfrm xmlns:a="http://schemas.openxmlformats.org/drawingml/2006/main">
            <a:off x="825435" y="2038350"/>
            <a:ext cx="5340480" cy="3867150"/>
          </a:xfrm>
          <a:prstGeom xmlns:a="http://schemas.openxmlformats.org/drawingml/2006/main" prst="rect">
            <a:avLst/>
          </a:prstGeom>
        </p:spPr>
      </p:pic>
      <p:sp>
        <p:nvSpPr>
          <p:cNvPr id="8" name="length-plot-frame">
            <a:extLst xmlns:a="http://schemas.openxmlformats.org/drawingml/2006/main">
              <a:ext uri="{FF2B5EF4-FFF2-40B4-BE49-F238E27FC236}">
                <a16:creationId xmlns:a16="http://schemas.microsoft.com/office/drawing/2014/main" id="{828C937F-92AF-438E-B989-6CD8DF37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24050"/>
            <a:ext cx="48863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ddbcdce424595"/>
          <a:stretch xmlns:a="http://schemas.openxmlformats.org/drawingml/2006/main"/>
        </p:blipFill>
        <p:spPr>
          <a:xfrm xmlns:a="http://schemas.openxmlformats.org/drawingml/2006/main">
            <a:off x="7019925" y="3002744"/>
            <a:ext cx="4657725" cy="1938362"/>
          </a:xfrm>
          <a:prstGeom xmlns:a="http://schemas.openxmlformats.org/drawingml/2006/main" prst="rect">
            <a:avLst/>
          </a:prstGeom>
        </p:spPr>
      </p:pic>
      <p:sp>
        <p:nvSpPr>
          <p:cNvPr id="10" name="length-caption">
            <a:extLst xmlns:a="http://schemas.openxmlformats.org/drawingml/2006/main">
              <a:ext uri="{FF2B5EF4-FFF2-40B4-BE49-F238E27FC236}">
                <a16:creationId xmlns:a16="http://schemas.microsoft.com/office/drawing/2014/main" id="{DDE1DD49-4236-492B-97B7-2E2C7CAB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Set 1 spans 18-268 reference words, and Vanessa's ratings also rise with length.</a:t>
            </a:r>
          </a:p>
        </p:txBody>
      </p:sp>
    </p:spTree>
    <p:extLst>
      <p:ext uri="{BB962C8B-B14F-4D97-AF65-F5344CB8AC3E}">
        <p14:creationId xmlns:p14="http://schemas.microsoft.com/office/powerpoint/2010/main" val="1362739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22916C86-E336-47C7-ABCE-68561A3E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ADJUSTED EVIDENCE</a:t>
            </a:r>
          </a:p>
        </p:txBody>
      </p:sp>
      <p:sp>
        <p:nvSpPr>
          <p:cNvPr id="2" name="slide-no-8">
            <a:extLst xmlns:a="http://schemas.openxmlformats.org/drawingml/2006/main">
              <a:ext uri="{FF2B5EF4-FFF2-40B4-BE49-F238E27FC236}">
                <a16:creationId xmlns:a16="http://schemas.microsoft.com/office/drawing/2014/main" id="{DAE0A28A-FBC0-4840-8C21-40C029A2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A865BE07-3747-4929-8E3A-84EC7FA6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After length adjustment, the signal becomes cautious</a:t>
            </a:r>
          </a:p>
        </p:txBody>
      </p:sp>
      <p:sp>
        <p:nvSpPr>
          <p:cNvPr id="4" name="top-rule-8">
            <a:extLst xmlns:a="http://schemas.openxmlformats.org/drawingml/2006/main">
              <a:ext uri="{FF2B5EF4-FFF2-40B4-BE49-F238E27FC236}">
                <a16:creationId xmlns:a16="http://schemas.microsoft.com/office/drawing/2014/main" id="{B9AE6ED1-40BC-439B-8FB4-CD76E1E0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2D15120C-6708-446D-A6D9-D3DE9A71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residual-plot-frame">
            <a:extLst xmlns:a="http://schemas.openxmlformats.org/drawingml/2006/main">
              <a:ext uri="{FF2B5EF4-FFF2-40B4-BE49-F238E27FC236}">
                <a16:creationId xmlns:a16="http://schemas.microsoft.com/office/drawing/2014/main" id="{5AB3F0E7-7CA3-4F0A-89A1-80DD545C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723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f9581aa6144f9"/>
          <a:stretch xmlns:a="http://schemas.openxmlformats.org/drawingml/2006/main"/>
        </p:blipFill>
        <p:spPr>
          <a:xfrm xmlns:a="http://schemas.openxmlformats.org/drawingml/2006/main">
            <a:off x="1479554" y="2038350"/>
            <a:ext cx="5079991" cy="3676650"/>
          </a:xfrm>
          <a:prstGeom xmlns:a="http://schemas.openxmlformats.org/drawingml/2006/main" prst="rect">
            <a:avLst/>
          </a:prstGeom>
        </p:spPr>
      </p:pic>
      <p:sp>
        <p:nvSpPr>
          <p:cNvPr id="8" name="adjusted-readout">
            <a:extLst xmlns:a="http://schemas.openxmlformats.org/drawingml/2006/main">
              <a:ext uri="{FF2B5EF4-FFF2-40B4-BE49-F238E27FC236}">
                <a16:creationId xmlns:a16="http://schemas.microsoft.com/office/drawing/2014/main" id="{6473D52E-4C18-4992-AC7B-AB9784ED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7719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djusted-readout-title">
            <a:extLst xmlns:a="http://schemas.openxmlformats.org/drawingml/2006/main">
              <a:ext uri="{FF2B5EF4-FFF2-40B4-BE49-F238E27FC236}">
                <a16:creationId xmlns:a16="http://schemas.microsoft.com/office/drawing/2014/main" id="{C29BA493-CF9E-4EFC-BC81-DB053E8D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Spearman r</a:t>
            </a:r>
          </a:p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rating vs residual badness</a:t>
            </a:r>
          </a:p>
        </p:txBody>
      </p:sp>
      <p:sp>
        <p:nvSpPr>
          <p:cNvPr id="10" name="adjusted-readout-values">
            <a:extLst xmlns:a="http://schemas.openxmlformats.org/drawingml/2006/main">
              <a:ext uri="{FF2B5EF4-FFF2-40B4-BE49-F238E27FC236}">
                <a16:creationId xmlns:a16="http://schemas.microsoft.com/office/drawing/2014/main" id="{9D6592EC-4563-40FB-8A44-7260E630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BLEU: 0.20</a:t>
            </a:r>
          </a:p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ROUGE-L: 0.22</a:t>
            </a:r>
          </a:p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3-gram F1: 0.35</a:t>
            </a:r>
          </a:p>
        </p:txBody>
      </p:sp>
      <p:sp>
        <p:nvSpPr>
          <p:cNvPr id="11" name="adjusted-readout-note">
            <a:extLst xmlns:a="http://schemas.openxmlformats.org/drawingml/2006/main">
              <a:ext uri="{FF2B5EF4-FFF2-40B4-BE49-F238E27FC236}">
                <a16:creationId xmlns:a16="http://schemas.microsoft.com/office/drawing/2014/main" id="{85B905B9-2829-4692-9E03-DFF22B58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05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adjusted direction is positive, but weak at n=10. This is preliminary evidence for workflow value, not proof.</a:t>
            </a:r>
          </a:p>
        </p:txBody>
      </p:sp>
    </p:spTree>
    <p:extLst>
      <p:ext uri="{BB962C8B-B14F-4D97-AF65-F5344CB8AC3E}">
        <p14:creationId xmlns:p14="http://schemas.microsoft.com/office/powerpoint/2010/main" val="1939722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6C26A917-9E95-4F88-B7C6-80903F6D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DIAGNOSIS</a:t>
            </a:r>
          </a:p>
        </p:txBody>
      </p:sp>
      <p:sp>
        <p:nvSpPr>
          <p:cNvPr id="2" name="slide-no-9">
            <a:extLst xmlns:a="http://schemas.openxmlformats.org/drawingml/2006/main">
              <a:ext uri="{FF2B5EF4-FFF2-40B4-BE49-F238E27FC236}">
                <a16:creationId xmlns:a16="http://schemas.microsoft.com/office/drawing/2014/main" id="{3BA3CC9B-B5F4-461F-9FB4-8214E64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A2C2B5E4-74A6-4330-BF4C-4DCBED8E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disagreements are the result, not a nuisance</a:t>
            </a:r>
          </a:p>
        </p:txBody>
      </p:sp>
      <p:sp>
        <p:nvSpPr>
          <p:cNvPr id="4" name="top-rule-9">
            <a:extLst xmlns:a="http://schemas.openxmlformats.org/drawingml/2006/main">
              <a:ext uri="{FF2B5EF4-FFF2-40B4-BE49-F238E27FC236}">
                <a16:creationId xmlns:a16="http://schemas.microsoft.com/office/drawing/2014/main" id="{2A3B79C6-98B2-48B8-89D0-BCD869FA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03D4F9F0-13A9-4A15-8595-F8F85647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high-panel">
            <a:extLst xmlns:a="http://schemas.openxmlformats.org/drawingml/2006/main">
              <a:ext uri="{FF2B5EF4-FFF2-40B4-BE49-F238E27FC236}">
                <a16:creationId xmlns:a16="http://schemas.microsoft.com/office/drawing/2014/main" id="{0E9EFD47-012C-4197-8844-7482931B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76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sid-panel">
            <a:extLst xmlns:a="http://schemas.openxmlformats.org/drawingml/2006/main">
              <a:ext uri="{FF2B5EF4-FFF2-40B4-BE49-F238E27FC236}">
                <a16:creationId xmlns:a16="http://schemas.microsoft.com/office/drawing/2014/main" id="{43EB4AEE-7407-4F59-A583-E5CCD27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476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smatch-panel">
            <a:extLst xmlns:a="http://schemas.openxmlformats.org/drawingml/2006/main">
              <a:ext uri="{FF2B5EF4-FFF2-40B4-BE49-F238E27FC236}">
                <a16:creationId xmlns:a16="http://schemas.microsoft.com/office/drawing/2014/main" id="{EF12D0C4-475C-435B-9227-C7DB0704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476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igh-title">
            <a:extLst xmlns:a="http://schemas.openxmlformats.org/drawingml/2006/main">
              <a:ext uri="{FF2B5EF4-FFF2-40B4-BE49-F238E27FC236}">
                <a16:creationId xmlns:a16="http://schemas.microsoft.com/office/drawing/2014/main" id="{CABBD260-BDD5-4347-A5E7-E5C76EA4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Human high-divergence cases</a:t>
            </a:r>
          </a:p>
        </p:txBody>
      </p:sp>
      <p:sp>
        <p:nvSpPr>
          <p:cNvPr id="10" name="high-list">
            <a:extLst xmlns:a="http://schemas.openxmlformats.org/drawingml/2006/main">
              <a:ext uri="{FF2B5EF4-FFF2-40B4-BE49-F238E27FC236}">
                <a16:creationId xmlns:a16="http://schemas.microsoft.com/office/drawing/2014/main" id="{FC6A5DC4-8B7A-4B27-A8D1-BF1C8161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- Καβασσός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- Καρία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- Κυτέριον</a:t>
            </a:r>
          </a:p>
        </p:txBody>
      </p:sp>
      <p:sp>
        <p:nvSpPr>
          <p:cNvPr id="11" name="resid-title">
            <a:extLst xmlns:a="http://schemas.openxmlformats.org/drawingml/2006/main">
              <a:ext uri="{FF2B5EF4-FFF2-40B4-BE49-F238E27FC236}">
                <a16:creationId xmlns:a16="http://schemas.microsoft.com/office/drawing/2014/main" id="{5B91A9A7-0E84-454D-BA73-D5E6E822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Worst after length adjustment</a:t>
            </a:r>
          </a:p>
        </p:txBody>
      </p:sp>
      <p:sp>
        <p:nvSpPr>
          <p:cNvPr id="12" name="resid-list">
            <a:extLst xmlns:a="http://schemas.openxmlformats.org/drawingml/2006/main">
              <a:ext uri="{FF2B5EF4-FFF2-40B4-BE49-F238E27FC236}">
                <a16:creationId xmlns:a16="http://schemas.microsoft.com/office/drawing/2014/main" id="{AAEB92DE-9ECC-4F66-8FAB-C6CE3B9A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- Καδμεία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- Καβασσός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- Κυτέριον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- Καρδαμύλη</a:t>
            </a:r>
          </a:p>
        </p:txBody>
      </p:sp>
      <p:sp>
        <p:nvSpPr>
          <p:cNvPr id="13" name="mismatch-title">
            <a:extLst xmlns:a="http://schemas.openxmlformats.org/drawingml/2006/main">
              <a:ext uri="{FF2B5EF4-FFF2-40B4-BE49-F238E27FC236}">
                <a16:creationId xmlns:a16="http://schemas.microsoft.com/office/drawing/2014/main" id="{2D86AF1A-4A66-4372-91EB-460573D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What the mismatch tells us</a:t>
            </a:r>
          </a:p>
        </p:txBody>
      </p:sp>
      <p:sp>
        <p:nvSpPr>
          <p:cNvPr id="14" name="mismatch-list">
            <a:extLst xmlns:a="http://schemas.openxmlformats.org/drawingml/2006/main">
              <a:ext uri="{FF2B5EF4-FFF2-40B4-BE49-F238E27FC236}">
                <a16:creationId xmlns:a16="http://schemas.microsoft.com/office/drawing/2014/main" id="{BC83E141-5747-4245-8932-FA899F07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- Karia: high rating, length explains much of the low score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- Kadmeia: low rating, poor adjusted overlap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- Kavalis: high rating, strong overlap</a:t>
            </a:r>
          </a:p>
        </p:txBody>
      </p:sp>
      <p:sp>
        <p:nvSpPr>
          <p:cNvPr id="15" name="diagnosis-line">
            <a:extLst xmlns:a="http://schemas.openxmlformats.org/drawingml/2006/main">
              <a:ext uri="{FF2B5EF4-FFF2-40B4-BE49-F238E27FC236}">
                <a16:creationId xmlns:a16="http://schemas.microsoft.com/office/drawing/2014/main" id="{1F59F71C-CDBC-4986-8926-ABE067A0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These are exactly the cases a pack-based interface should surface for review.</a:t>
            </a:r>
          </a:p>
        </p:txBody>
      </p:sp>
    </p:spTree>
    <p:extLst>
      <p:ext uri="{BB962C8B-B14F-4D97-AF65-F5344CB8AC3E}">
        <p14:creationId xmlns:p14="http://schemas.microsoft.com/office/powerpoint/2010/main" val="7373002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92C6518A-4AB4-4270-9621-030D233E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CLAIM</a:t>
            </a:r>
          </a:p>
        </p:txBody>
      </p:sp>
      <p:sp>
        <p:nvSpPr>
          <p:cNvPr id="2" name="slide-no-10">
            <a:extLst xmlns:a="http://schemas.openxmlformats.org/drawingml/2006/main">
              <a:ext uri="{FF2B5EF4-FFF2-40B4-BE49-F238E27FC236}">
                <a16:creationId xmlns:a16="http://schemas.microsoft.com/office/drawing/2014/main" id="{E3B5B226-3CCF-47AD-9ADC-5932A4C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51E56033-CB68-43EA-9FC2-8DB4D13E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What we can responsibly claim at AI4AS</a:t>
            </a:r>
          </a:p>
        </p:txBody>
      </p:sp>
      <p:sp>
        <p:nvSpPr>
          <p:cNvPr id="4" name="top-rule-10">
            <a:extLst xmlns:a="http://schemas.openxmlformats.org/drawingml/2006/main">
              <a:ext uri="{FF2B5EF4-FFF2-40B4-BE49-F238E27FC236}">
                <a16:creationId xmlns:a16="http://schemas.microsoft.com/office/drawing/2014/main" id="{C0598BF7-3748-4A9B-AB61-2B67310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B8AC7AFD-F594-4EB7-AD2C-803D515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claim-one">
            <a:extLst xmlns:a="http://schemas.openxmlformats.org/drawingml/2006/main">
              <a:ext uri="{FF2B5EF4-FFF2-40B4-BE49-F238E27FC236}">
                <a16:creationId xmlns:a16="http://schemas.microsoft.com/office/drawing/2014/main" id="{3099E5F8-35F0-4434-9287-18DD57D6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aim-two">
            <a:extLst xmlns:a="http://schemas.openxmlformats.org/drawingml/2006/main">
              <a:ext uri="{FF2B5EF4-FFF2-40B4-BE49-F238E27FC236}">
                <a16:creationId xmlns:a16="http://schemas.microsoft.com/office/drawing/2014/main" id="{8045C96C-9894-45F2-951E-CD3C7BD5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im-three">
            <a:extLst xmlns:a="http://schemas.openxmlformats.org/drawingml/2006/main">
              <a:ext uri="{FF2B5EF4-FFF2-40B4-BE49-F238E27FC236}">
                <a16:creationId xmlns:a16="http://schemas.microsoft.com/office/drawing/2014/main" id="{224D0206-578D-4FB9-9D09-69CA55B7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aim-one-head">
            <a:extLst xmlns:a="http://schemas.openxmlformats.org/drawingml/2006/main">
              <a:ext uri="{FF2B5EF4-FFF2-40B4-BE49-F238E27FC236}">
                <a16:creationId xmlns:a16="http://schemas.microsoft.com/office/drawing/2014/main" id="{A368D979-D3D3-4C17-A657-79D76EC7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1. Method</a:t>
            </a:r>
          </a:p>
        </p:txBody>
      </p:sp>
      <p:sp>
        <p:nvSpPr>
          <p:cNvPr id="10" name="claim-one-body">
            <a:extLst xmlns:a="http://schemas.openxmlformats.org/drawingml/2006/main">
              <a:ext uri="{FF2B5EF4-FFF2-40B4-BE49-F238E27FC236}">
                <a16:creationId xmlns:a16="http://schemas.microsoft.com/office/drawing/2014/main" id="{6BF51719-385C-42A9-B9D0-9FC7F1E9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Parallage gives AI translation abundance a visible, auditable structure.</a:t>
            </a:r>
          </a:p>
        </p:txBody>
      </p:sp>
      <p:sp>
        <p:nvSpPr>
          <p:cNvPr id="11" name="claim-two-head">
            <a:extLst xmlns:a="http://schemas.openxmlformats.org/drawingml/2006/main">
              <a:ext uri="{FF2B5EF4-FFF2-40B4-BE49-F238E27FC236}">
                <a16:creationId xmlns:a16="http://schemas.microsoft.com/office/drawing/2014/main" id="{5EA0A1DE-3D4D-4B9D-88BD-47B1506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2. Pilot</a:t>
            </a:r>
          </a:p>
        </p:txBody>
      </p:sp>
      <p:sp>
        <p:nvSpPr>
          <p:cNvPr id="12" name="claim-two-body">
            <a:extLst xmlns:a="http://schemas.openxmlformats.org/drawingml/2006/main">
              <a:ext uri="{FF2B5EF4-FFF2-40B4-BE49-F238E27FC236}">
                <a16:creationId xmlns:a16="http://schemas.microsoft.com/office/drawing/2014/main" id="{5AEE79C8-BA05-4DFC-93BF-FFD8CCE1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Vanessa's first set shows a raw signal, a length confound, and weak residual signal.</a:t>
            </a:r>
          </a:p>
        </p:txBody>
      </p:sp>
      <p:sp>
        <p:nvSpPr>
          <p:cNvPr id="13" name="claim-three-head">
            <a:extLst xmlns:a="http://schemas.openxmlformats.org/drawingml/2006/main">
              <a:ext uri="{FF2B5EF4-FFF2-40B4-BE49-F238E27FC236}">
                <a16:creationId xmlns:a16="http://schemas.microsoft.com/office/drawing/2014/main" id="{9FD2CAA9-42F5-4C63-A859-3E8A0451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3. Next study</a:t>
            </a:r>
          </a:p>
        </p:txBody>
      </p:sp>
      <p:sp>
        <p:nvSpPr>
          <p:cNvPr id="14" name="claim-three-body">
            <a:extLst xmlns:a="http://schemas.openxmlformats.org/drawingml/2006/main">
              <a:ext uri="{FF2B5EF4-FFF2-40B4-BE49-F238E27FC236}">
                <a16:creationId xmlns:a16="http://schemas.microsoft.com/office/drawing/2014/main" id="{994201ED-6974-4935-B4FB-FF59C99C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Scale to more reviewers, the Chinese stream, and direct comparison with single-output translation.</a:t>
            </a:r>
          </a:p>
        </p:txBody>
      </p:sp>
      <p:sp>
        <p:nvSpPr>
          <p:cNvPr id="15" name="claim-close">
            <a:extLst xmlns:a="http://schemas.openxmlformats.org/drawingml/2006/main">
              <a:ext uri="{FF2B5EF4-FFF2-40B4-BE49-F238E27FC236}">
                <a16:creationId xmlns:a16="http://schemas.microsoft.com/office/drawing/2014/main" id="{C6312880-B5C7-4D77-97D5-6124EEDE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019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The evidence supports a publishable method-in-progress: not proof that the tool is better, but proof that the judgement problem is measurable.</a:t>
            </a:r>
          </a:p>
        </p:txBody>
      </p:sp>
    </p:spTree>
    <p:extLst>
      <p:ext uri="{BB962C8B-B14F-4D97-AF65-F5344CB8AC3E}">
        <p14:creationId xmlns:p14="http://schemas.microsoft.com/office/powerpoint/2010/main" val="967318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FFD38DBF-A05D-469B-A5CE-4AAE7EF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SOURCES</a:t>
            </a:r>
          </a:p>
        </p:txBody>
      </p:sp>
      <p:sp>
        <p:nvSpPr>
          <p:cNvPr id="2" name="slide-no-11">
            <a:extLst xmlns:a="http://schemas.openxmlformats.org/drawingml/2006/main">
              <a:ext uri="{FF2B5EF4-FFF2-40B4-BE49-F238E27FC236}">
                <a16:creationId xmlns:a16="http://schemas.microsoft.com/office/drawing/2014/main" id="{9349C83C-6656-485C-8A02-1F8532B3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BFC18E5C-F972-41B6-A6D1-ED3E8197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Evidence base for this version</a:t>
            </a:r>
          </a:p>
        </p:txBody>
      </p:sp>
      <p:sp>
        <p:nvSpPr>
          <p:cNvPr id="4" name="top-rule-11">
            <a:extLst xmlns:a="http://schemas.openxmlformats.org/drawingml/2006/main">
              <a:ext uri="{FF2B5EF4-FFF2-40B4-BE49-F238E27FC236}">
                <a16:creationId xmlns:a16="http://schemas.microsoft.com/office/drawing/2014/main" id="{BE734219-96C4-4FA9-830E-31BC1347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D32B2B7D-1C72-4F36-8B22-3E116546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6" name="source-list">
            <a:extLst xmlns:a="http://schemas.openxmlformats.org/drawingml/2006/main">
              <a:ext uri="{FF2B5EF4-FFF2-40B4-BE49-F238E27FC236}">
                <a16:creationId xmlns:a16="http://schemas.microsoft.com/office/drawing/2014/main" id="{9845930A-AD42-42DF-B7FD-563352B9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- AI4AS 2026 programme: the talk is in the 11:00-12:00 AI and Translations session on 27 July 2026.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- Published abstract: Baker, Chan, Enriquez Raido, Hawes, Into the Parallage.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- Macquarie project page: Into the Parallage: harnessing AI abundance in translation tasks.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- Variantum local analysis: Vanessa Set 1 scatter data and generated metric plots.</a:t>
            </a:r>
          </a:p>
        </p:txBody>
      </p:sp>
      <p:sp>
        <p:nvSpPr>
          <p:cNvPr id="7" name="source-url-panel">
            <a:extLst xmlns:a="http://schemas.openxmlformats.org/drawingml/2006/main">
              <a:ext uri="{FF2B5EF4-FFF2-40B4-BE49-F238E27FC236}">
                <a16:creationId xmlns:a16="http://schemas.microsoft.com/office/drawing/2014/main" id="{6314FFAA-F99F-4474-BB2C-5E6CF55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url-text">
            <a:extLst xmlns:a="http://schemas.openxmlformats.org/drawingml/2006/main">
              <a:ext uri="{FF2B5EF4-FFF2-40B4-BE49-F238E27FC236}">
                <a16:creationId xmlns:a16="http://schemas.microsoft.com/office/drawing/2014/main" id="{03AB9E09-5E9F-42C9-BA37-5ECB41FD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720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https://ai4asconference.github.io/2026/abstracts/Session%201/Baker.pdf</a:t>
            </a:r>
          </a:p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outputs/ai4as-2026-parallage/ and analysis/</a:t>
            </a:r>
          </a:p>
        </p:txBody>
      </p:sp>
    </p:spTree>
    <p:extLst>
      <p:ext uri="{BB962C8B-B14F-4D97-AF65-F5344CB8AC3E}">
        <p14:creationId xmlns:p14="http://schemas.microsoft.com/office/powerpoint/2010/main" val="1164822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2026-07-03T07:25:01.3900000Z</dcterms:created>
  <dcterms:modified xsi:type="dcterms:W3CDTF">2026-07-03T07:25:01.3900000Z</dcterms:modified>
</coreProperties>
</file>